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CD"/>
    <a:srgbClr val="FCDCBF"/>
    <a:srgbClr val="BFE7FF"/>
    <a:srgbClr val="FFCFE7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398" y="-9610"/>
      </p:cViewPr>
      <p:guideLst>
        <p:guide orient="horz" pos="10368"/>
        <p:guide pos="5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eeexplore.ieee.org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5" y="4016522"/>
            <a:ext cx="16459203" cy="6104232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37FD5-5EF1-EDB2-8DF3-A5AA932536BE}"/>
              </a:ext>
            </a:extLst>
          </p:cNvPr>
          <p:cNvSpPr/>
          <p:nvPr/>
        </p:nvSpPr>
        <p:spPr>
          <a:xfrm>
            <a:off x="-3" y="10149904"/>
            <a:ext cx="16459203" cy="5824474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`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21296-65E9-56EE-2F9B-01E9D7D98AE3}"/>
              </a:ext>
            </a:extLst>
          </p:cNvPr>
          <p:cNvSpPr/>
          <p:nvPr/>
        </p:nvSpPr>
        <p:spPr>
          <a:xfrm>
            <a:off x="-2" y="15942477"/>
            <a:ext cx="16459203" cy="623701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73F69-4CF5-AB24-E8A8-73DEEF223A8F}"/>
              </a:ext>
            </a:extLst>
          </p:cNvPr>
          <p:cNvSpPr/>
          <p:nvPr/>
        </p:nvSpPr>
        <p:spPr>
          <a:xfrm>
            <a:off x="-2" y="22179494"/>
            <a:ext cx="16459203" cy="537847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B6150E-B6D9-0477-CF16-6A98BF9C825F}"/>
              </a:ext>
            </a:extLst>
          </p:cNvPr>
          <p:cNvSpPr/>
          <p:nvPr/>
        </p:nvSpPr>
        <p:spPr>
          <a:xfrm>
            <a:off x="-2" y="27557964"/>
            <a:ext cx="16459203" cy="5360434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9" name="Rectangle 18"/>
          <p:cNvSpPr/>
          <p:nvPr/>
        </p:nvSpPr>
        <p:spPr>
          <a:xfrm>
            <a:off x="187036" y="4082902"/>
            <a:ext cx="3261014" cy="47413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2" y="2698062"/>
            <a:ext cx="16459203" cy="132522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187042" y="16251378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7042" y="27911837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90600" y="2951750"/>
            <a:ext cx="15505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3600" b="1" dirty="0"/>
              <a:t>QuickAid: Hyperlocal Trust-Based Human Assistance Coordination Platform</a:t>
            </a:r>
            <a:endParaRPr lang="en-US" sz="3602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7047" y="10269290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469899" y="17030700"/>
            <a:ext cx="8902701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QuickAid platform successfully enables nearby users to coordinate physical assistance tasks in real time.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improves rapid helper discovery for urgent nearby requirements.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trust system increases transparency and accountability between users.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Controlled location-sharing improves user privacy and safety.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flexible earning opportunities for students and local workers.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238606" y="17425771"/>
            <a:ext cx="9249450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3043" indent="-343043">
              <a:buFont typeface="Wingdings" panose="05000000000000000000" pitchFamily="2" charset="2"/>
              <a:buChar char="Ø"/>
            </a:pPr>
            <a:endParaRPr lang="en-IN" sz="2001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469900" y="22940831"/>
            <a:ext cx="1460246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QuickAid successfully demonstrates the use of hyperlocal technology for nearby human assistance and flexible earning opportunities.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dual-sided trust and verification system improves safety, transparency, and accountability for both seekers and helpers.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dependency on personal social networks by providing a low-social-pressure environment for requesting temporary help.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nearby matching system enables faster task coordination and improves response efficiency in hostels and apartment communities.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QuickAid provides a scalable and user-friendly solution for trusted short-duration physical assistance .</a:t>
            </a:r>
          </a:p>
          <a:p>
            <a:pPr marL="34290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creates independent part-time earning opportunities for students and local workers without requiring fixed employment or long-term commitments.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401040" y="28876364"/>
            <a:ext cx="15553277" cy="342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100"/>
              </a:spcBef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Sharma and R. Verma, “Hyperlocal Service Platforms and Community-Based Assistance Systems,”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Mobile Computing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3, pp. 45–58, 2024. </a:t>
            </a:r>
          </a:p>
          <a:p>
            <a:pPr marL="342900" indent="-342900" algn="just">
              <a:spcBef>
                <a:spcPts val="1100"/>
              </a:spcBef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Kumar and S. Reddy, “Trust and Reputation Mechanisms in Mobile Service Applications,”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Smart Computing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2, pp. 101–115, 2025. </a:t>
            </a:r>
          </a:p>
          <a:p>
            <a:pPr marL="342900" indent="-342900" algn="just">
              <a:spcBef>
                <a:spcPts val="1100"/>
              </a:spcBef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Gupta et al., “Location-Aware Real-Time Coordination Systems for Urban Assistance Applications,”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Intelligent Mobile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210–218, 2023. </a:t>
            </a:r>
          </a:p>
          <a:p>
            <a:pPr marL="342900" indent="-342900" algn="just">
              <a:spcBef>
                <a:spcPts val="1100"/>
              </a:spcBef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Narayan and V. Rao, “Human-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Trust Design in Digital Marketplace Platforms,”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Human-Computer Interaction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4, pp. 88–99, 2025. </a:t>
            </a:r>
          </a:p>
          <a:p>
            <a:pPr marL="342900" indent="-342900" algn="just"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Digital Library, “Research Articles on Hyperlocal Mobile Coordination Systems,” 2024. Available: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8C155F7-AA0E-61AF-DD1F-85185A013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4" name="Rectangle 14">
            <a:extLst>
              <a:ext uri="{FF2B5EF4-FFF2-40B4-BE49-F238E27FC236}">
                <a16:creationId xmlns:a16="http://schemas.microsoft.com/office/drawing/2014/main" id="{D221B73F-1B1D-EFE4-3BD8-921F974D4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43" y="290580"/>
            <a:ext cx="15952717" cy="183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2AA490-4F2E-AC7C-3242-402CB2C428A7}"/>
              </a:ext>
            </a:extLst>
          </p:cNvPr>
          <p:cNvSpPr txBox="1"/>
          <p:nvPr/>
        </p:nvSpPr>
        <p:spPr>
          <a:xfrm>
            <a:off x="9643463" y="1470940"/>
            <a:ext cx="6420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Name: </a:t>
            </a:r>
            <a:r>
              <a:rPr lang="en-IN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Charan Bhargav</a:t>
            </a:r>
            <a:endParaRPr lang="en-US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en-IN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Guide: </a:t>
            </a:r>
            <a:r>
              <a:rPr lang="en-IN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 S Saraswathi</a:t>
            </a:r>
            <a:b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Reg. No: </a:t>
            </a:r>
            <a:r>
              <a:rPr lang="en-IN" i="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192365028</a:t>
            </a:r>
            <a:endParaRPr lang="en-IN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1012" y="4865935"/>
            <a:ext cx="1069610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QuickAid is a hyperlocal mobile application designed to connect nearby people for short-duration physical assistance tasks.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users quickly find trusted nearby helpers for activities such as luggage shifting, grocery assistance, pickup/drop support, and temporary moving help.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mainly focused on environments like college hostels, apartments, and local communities where urgent nearby help is frequently needed.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QuickAid provides flexible earning opportunities for students and local workers without requiring fixed jobs or long-term commitments.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a dual-sided trust system where both helpers and task seekers are verified and evaluated using trust metrics and completion history</a:t>
            </a:r>
            <a:endParaRPr lang="en-IN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9B56F7-7D29-5D77-45A5-C13AFC99B21D}"/>
              </a:ext>
            </a:extLst>
          </p:cNvPr>
          <p:cNvSpPr txBox="1"/>
          <p:nvPr/>
        </p:nvSpPr>
        <p:spPr>
          <a:xfrm>
            <a:off x="10987117" y="9037320"/>
            <a:ext cx="5077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– QuickAid System Workflow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01E9690-3526-C1AF-144C-7E7021012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650" y="5743952"/>
            <a:ext cx="5062538" cy="308414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3386A3-7ECF-555A-DDDD-E11E82A439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718" y="17260882"/>
            <a:ext cx="6524439" cy="434962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291231F-AF10-8A3D-66AA-AF78CA5F5755}"/>
              </a:ext>
            </a:extLst>
          </p:cNvPr>
          <p:cNvSpPr/>
          <p:nvPr/>
        </p:nvSpPr>
        <p:spPr>
          <a:xfrm>
            <a:off x="563879" y="11200714"/>
            <a:ext cx="2646051" cy="149612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b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/Login</a:t>
            </a:r>
            <a:endParaRPr lang="en-IN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8AFACA2-D526-E58F-EF2B-A86D19D72C6B}"/>
              </a:ext>
            </a:extLst>
          </p:cNvPr>
          <p:cNvSpPr/>
          <p:nvPr/>
        </p:nvSpPr>
        <p:spPr>
          <a:xfrm>
            <a:off x="3448050" y="11725837"/>
            <a:ext cx="801370" cy="30480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418DB80-F8EE-5DFB-C47C-408CFF67B9B9}"/>
              </a:ext>
            </a:extLst>
          </p:cNvPr>
          <p:cNvSpPr/>
          <p:nvPr/>
        </p:nvSpPr>
        <p:spPr>
          <a:xfrm>
            <a:off x="4389120" y="11196013"/>
            <a:ext cx="2499360" cy="150355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 / Helper Availability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4097C19A-91E1-9F08-5A3C-5BE2F76ED312}"/>
              </a:ext>
            </a:extLst>
          </p:cNvPr>
          <p:cNvSpPr/>
          <p:nvPr/>
        </p:nvSpPr>
        <p:spPr>
          <a:xfrm>
            <a:off x="7138670" y="11826240"/>
            <a:ext cx="801370" cy="30480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824F12B-4002-FA75-9638-D053968584E5}"/>
              </a:ext>
            </a:extLst>
          </p:cNvPr>
          <p:cNvSpPr/>
          <p:nvPr/>
        </p:nvSpPr>
        <p:spPr>
          <a:xfrm>
            <a:off x="11105650" y="11871203"/>
            <a:ext cx="801370" cy="30480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A7DD38-63C9-6556-97BF-DEE15C1FD198}"/>
              </a:ext>
            </a:extLst>
          </p:cNvPr>
          <p:cNvSpPr/>
          <p:nvPr/>
        </p:nvSpPr>
        <p:spPr>
          <a:xfrm>
            <a:off x="8336280" y="11196014"/>
            <a:ext cx="2499360" cy="14961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Hyperlocal Matching Engine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8562D8-1033-68AF-64CA-25B423D160FC}"/>
              </a:ext>
            </a:extLst>
          </p:cNvPr>
          <p:cNvSpPr/>
          <p:nvPr/>
        </p:nvSpPr>
        <p:spPr>
          <a:xfrm>
            <a:off x="12131040" y="11200714"/>
            <a:ext cx="2499360" cy="14914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Safety Processing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86E679-AD6A-BE3D-D93A-7F6AD778AE98}"/>
              </a:ext>
            </a:extLst>
          </p:cNvPr>
          <p:cNvSpPr/>
          <p:nvPr/>
        </p:nvSpPr>
        <p:spPr>
          <a:xfrm>
            <a:off x="12131040" y="13713477"/>
            <a:ext cx="2499360" cy="149142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&amp; Task Acceptance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A760CB-DC9B-D6E5-B693-291F4C531263}"/>
              </a:ext>
            </a:extLst>
          </p:cNvPr>
          <p:cNvSpPr/>
          <p:nvPr/>
        </p:nvSpPr>
        <p:spPr>
          <a:xfrm>
            <a:off x="8498038" y="13670370"/>
            <a:ext cx="2499360" cy="150355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&amp; Coordination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1F5C645-3CF4-4BA9-B1BD-EC5180B6010E}"/>
              </a:ext>
            </a:extLst>
          </p:cNvPr>
          <p:cNvSpPr/>
          <p:nvPr/>
        </p:nvSpPr>
        <p:spPr>
          <a:xfrm>
            <a:off x="4343571" y="13680744"/>
            <a:ext cx="2499360" cy="150355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 &amp; Payment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C329B82-F671-01AF-EA9E-89304EE25CB6}"/>
              </a:ext>
            </a:extLst>
          </p:cNvPr>
          <p:cNvSpPr/>
          <p:nvPr/>
        </p:nvSpPr>
        <p:spPr>
          <a:xfrm>
            <a:off x="609579" y="13576151"/>
            <a:ext cx="2646051" cy="149612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Update</a:t>
            </a:r>
            <a:endParaRPr lang="en-IN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Arrow: Curved Left 44">
            <a:extLst>
              <a:ext uri="{FF2B5EF4-FFF2-40B4-BE49-F238E27FC236}">
                <a16:creationId xmlns:a16="http://schemas.microsoft.com/office/drawing/2014/main" id="{19753CA2-5867-8532-0944-CAC67524B11D}"/>
              </a:ext>
            </a:extLst>
          </p:cNvPr>
          <p:cNvSpPr/>
          <p:nvPr/>
        </p:nvSpPr>
        <p:spPr>
          <a:xfrm>
            <a:off x="14767560" y="11780520"/>
            <a:ext cx="1508762" cy="305139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011E5DA5-6755-6ADF-5817-B2F1298FE62B}"/>
              </a:ext>
            </a:extLst>
          </p:cNvPr>
          <p:cNvSpPr/>
          <p:nvPr/>
        </p:nvSpPr>
        <p:spPr>
          <a:xfrm>
            <a:off x="11033760" y="14295121"/>
            <a:ext cx="978408" cy="3048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Left 46">
            <a:extLst>
              <a:ext uri="{FF2B5EF4-FFF2-40B4-BE49-F238E27FC236}">
                <a16:creationId xmlns:a16="http://schemas.microsoft.com/office/drawing/2014/main" id="{E173612E-099D-2A00-A435-51C8E5962301}"/>
              </a:ext>
            </a:extLst>
          </p:cNvPr>
          <p:cNvSpPr/>
          <p:nvPr/>
        </p:nvSpPr>
        <p:spPr>
          <a:xfrm>
            <a:off x="7154801" y="14264934"/>
            <a:ext cx="978408" cy="3048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E14651B4-AAE9-AB73-4DF2-4D355DFACC7F}"/>
              </a:ext>
            </a:extLst>
          </p:cNvPr>
          <p:cNvSpPr/>
          <p:nvPr/>
        </p:nvSpPr>
        <p:spPr>
          <a:xfrm>
            <a:off x="3346982" y="14253653"/>
            <a:ext cx="978408" cy="3048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697</TotalTime>
  <Words>517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charan cherry</cp:lastModifiedBy>
  <cp:revision>50</cp:revision>
  <dcterms:created xsi:type="dcterms:W3CDTF">2023-04-19T08:35:46Z</dcterms:created>
  <dcterms:modified xsi:type="dcterms:W3CDTF">2026-05-25T14:12:06Z</dcterms:modified>
</cp:coreProperties>
</file>